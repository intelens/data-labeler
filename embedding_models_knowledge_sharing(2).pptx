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Models • Knowledge Sharing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sbert.net/docs/sentence_transformer/training_overview.html" TargetMode="External"/><Relationship Id="rId2" Type="http://schemas.openxmlformats.org/officeDocument/2006/relationships/hyperlink" Target="https://sbert.net/docs/sentence_transformer/loss_overview.html" TargetMode="External"/><Relationship Id="rId3" Type="http://schemas.openxmlformats.org/officeDocument/2006/relationships/hyperlink" Target="https://sbert.net/docs/package_reference/sentence_transformer/losses.html" TargetMode="External"/><Relationship Id="rId4" Type="http://schemas.openxmlformats.org/officeDocument/2006/relationships/hyperlink" Target="https://huggingface.co/blog/train-sentence-transformers" TargetMode="External"/><Relationship Id="rId5" Type="http://schemas.openxmlformats.org/officeDocument/2006/relationships/hyperlink" Target="https://huggingface.co/docs/setfit/conceptual_guides/setfit" TargetMode="External"/><Relationship Id="rId6" Type="http://schemas.openxmlformats.org/officeDocument/2006/relationships/hyperlink" Target="https://huggingface.co/docs/setfit/" TargetMode="External"/><Relationship Id="rId7" Type="http://schemas.openxmlformats.org/officeDocument/2006/relationships/hyperlink" Target="https://arxiv.org/abs/1810.04805" TargetMode="External"/><Relationship Id="rId8" Type="http://schemas.openxmlformats.org/officeDocument/2006/relationships/hyperlink" Target="https://arxiv.org/abs/2505.09388" TargetMode="External"/><Relationship Id="rId9" Type="http://schemas.openxmlformats.org/officeDocument/2006/relationships/hyperlink" Target="https://arxiv.org/abs/2506.05176" TargetMode="External"/><Relationship Id="rId10" Type="http://schemas.openxmlformats.org/officeDocument/2006/relationships/hyperlink" Target="https://github.com/QwenLM/Qwen3-Embedding" TargetMode="External"/><Relationship Id="rId11" Type="http://schemas.openxmlformats.org/officeDocument/2006/relationships/hyperlink" Target="https://arxiv.org/abs/2005.11401" TargetMode="External"/><Relationship Id="rId12" Type="http://schemas.openxmlformats.org/officeDocument/2006/relationships/hyperlink" Target="https://arxiv.org/abs/2312.10997" TargetMode="External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3840480" cy="3840480"/>
          </a:xfrm>
          <a:prstGeom prst="ellipse">
            <a:avLst/>
          </a:prstGeom>
          <a:solidFill>
            <a:srgbClr val="312E81">
              <a:alpha val="82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651760"/>
            <a:ext cx="3429000" cy="3840480"/>
          </a:xfrm>
          <a:prstGeom prst="ellipse">
            <a:avLst/>
          </a:prstGeom>
          <a:solidFill>
            <a:srgbClr val="155E75">
              <a:alpha val="75000"/>
            </a:srgbClr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</a:rPr>
              <a:t>EMBEDDING MODELS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representation learning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production RAG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 practical knowledge-sharing session for data scientists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40156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46557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340156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46557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RETRIEVAL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05656" y="340156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34655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77256" y="3401568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346557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FINE-TUNING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13308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Learning outcome: choose, evaluate, and adapt embedding systems for domain-specific search and classification.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100584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141732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0" y="228600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0" y="246888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283464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365760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92840" y="416052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466344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17736" y="1088136"/>
            <a:ext cx="1005840" cy="411480"/>
          </a:xfrm>
          <a:prstGeom prst="line">
            <a:avLst/>
          </a:prstGeom>
          <a:noFill/>
          <a:ln w="1524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23576" y="1499616"/>
            <a:ext cx="-457200" cy="868680"/>
          </a:xfrm>
          <a:prstGeom prst="line">
            <a:avLst/>
          </a:prstGeom>
          <a:noFill/>
          <a:ln w="1524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66376" y="2368296"/>
            <a:ext cx="1280160" cy="182880"/>
          </a:xfrm>
          <a:prstGeom prst="line">
            <a:avLst/>
          </a:prstGeom>
          <a:noFill/>
          <a:ln w="1524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66376" y="2368296"/>
            <a:ext cx="-960120" cy="548640"/>
          </a:xfrm>
          <a:prstGeom prst="line">
            <a:avLst/>
          </a:prstGeom>
          <a:noFill/>
          <a:ln w="1524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06256" y="2916936"/>
            <a:ext cx="1417320" cy="822960"/>
          </a:xfrm>
          <a:prstGeom prst="line">
            <a:avLst/>
          </a:prstGeom>
          <a:noFill/>
          <a:ln w="1524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23576" y="3739896"/>
            <a:ext cx="1051560" cy="502920"/>
          </a:xfrm>
          <a:prstGeom prst="line">
            <a:avLst/>
          </a:prstGeom>
          <a:noFill/>
          <a:ln w="1524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23576" y="3739896"/>
            <a:ext cx="-868680" cy="1005840"/>
          </a:xfrm>
          <a:prstGeom prst="line">
            <a:avLst/>
          </a:prstGeom>
          <a:noFill/>
          <a:ln w="15240">
            <a:solidFill>
              <a:srgbClr val="94A3B8">
                <a:alpha val="6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encoder–decoder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Embeddings are learned vectors that carry meaning between modules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-228600" y="1051560"/>
            <a:ext cx="2743200" cy="2743200"/>
          </a:xfrm>
          <a:prstGeom prst="ellipse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868680"/>
            <a:ext cx="3017520" cy="3017520"/>
          </a:xfrm>
          <a:prstGeom prst="ellipse">
            <a:avLst/>
          </a:prstGeom>
          <a:solidFill>
            <a:srgbClr val="EDE9FE">
              <a:alpha val="82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F46E5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7276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08760" y="149047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157276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49047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57276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72384" y="1728216"/>
            <a:ext cx="603504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115568"/>
            <a:ext cx="1737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2032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13533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ENCODER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171907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attention + FFN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59552" y="1728216"/>
            <a:ext cx="566928" cy="0"/>
          </a:xfrm>
          <a:prstGeom prst="line">
            <a:avLst/>
          </a:prstGeom>
          <a:noFill/>
          <a:ln w="2286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987552"/>
            <a:ext cx="1874520" cy="1499616"/>
          </a:xfrm>
          <a:prstGeom prst="roundRect">
            <a:avLst>
              <a:gd name="adj" fmla="val 4878"/>
            </a:avLst>
          </a:prstGeom>
          <a:solidFill>
            <a:srgbClr val="ECFDF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2252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EMBEDDING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37376" y="16276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17099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.12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949440" y="16276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7099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-.44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461504" y="16276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1504" y="17099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.81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973568" y="16276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3568" y="17099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...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65392" y="201168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latent state 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65592" y="1728216"/>
            <a:ext cx="56692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23960" y="1115568"/>
            <a:ext cx="1737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0848" y="13533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DECODER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70848" y="16642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cross-attention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next token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625328" y="1728216"/>
            <a:ext cx="6035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1320272" y="149047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93424" y="157276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2770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7C3AED"/>
                </a:solidFill>
              </a:rPr>
              <a:t>Teacher-forced training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" y="3154680"/>
            <a:ext cx="153619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3236976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source 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04288" y="3447288"/>
            <a:ext cx="457200" cy="0"/>
          </a:xfrm>
          <a:prstGeom prst="line">
            <a:avLst/>
          </a:prstGeom>
          <a:noFill/>
          <a:ln w="1651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834640" y="3154680"/>
            <a:ext cx="1572768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07792" y="3236976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encoder 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0560" y="3447288"/>
            <a:ext cx="457200" cy="0"/>
          </a:xfrm>
          <a:prstGeom prst="line">
            <a:avLst/>
          </a:prstGeom>
          <a:noFill/>
          <a:ln w="1651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010912" y="3154680"/>
            <a:ext cx="18288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323697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decoder p(y_t)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31152" y="3447288"/>
            <a:ext cx="45720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461504" y="3154680"/>
            <a:ext cx="162763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34656" y="323697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target y_t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281160" y="2743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464040" y="28803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Loss: token cross-entropy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464040" y="3200400"/>
            <a:ext cx="21488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37192" y="331927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-Σ_t log p(y_t|y_&lt;t,x)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9482328" y="3749040"/>
            <a:ext cx="211226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Minimizes surprise on target tokens. The same idea powers translation, summarization, and autoencoding.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777240" y="4681728"/>
            <a:ext cx="3291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77240" y="4681728"/>
            <a:ext cx="73152" cy="1207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4846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Where embeddings are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05840" y="5248656"/>
            <a:ext cx="2880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Input tokens are vectors; encoder states are contextual vectors; pooling can make one sequence vector.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34840" y="4681728"/>
            <a:ext cx="3291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34840" y="4681728"/>
            <a:ext cx="73152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846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Why they are useful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4663440" y="5248656"/>
            <a:ext cx="2880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 vector is a reusable interface: compare, classify, decode, or retrieve with it.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092440" y="4681728"/>
            <a:ext cx="32918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092440" y="4681728"/>
            <a:ext cx="73152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0" y="4846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Retrieval adaptation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8321040" y="5248656"/>
            <a:ext cx="2880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For search, keep the encoder and train vector geometry with contrastive loss.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Siamese networks for face recognition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Same encoder, two images: identity is decided by distance between embeddings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1051560"/>
            <a:ext cx="2331720" cy="2331720"/>
          </a:xfrm>
          <a:prstGeom prst="ellipse">
            <a:avLst/>
          </a:prstGeom>
          <a:solidFill>
            <a:srgbClr val="EEF2FF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3639312"/>
            <a:ext cx="2331720" cy="2331720"/>
          </a:xfrm>
          <a:prstGeom prst="ellipse">
            <a:avLst/>
          </a:prstGeom>
          <a:solidFill>
            <a:srgbClr val="EEF2FF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11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Face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4599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Face 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16352" y="2212848"/>
            <a:ext cx="64008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16352" y="4800600"/>
            <a:ext cx="64008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75564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0299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Encoder fθ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43434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4617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Encoder fθ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53712" y="2724912"/>
            <a:ext cx="0" cy="1536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33101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64748B"/>
                </a:solidFill>
              </a:rPr>
              <a:t>shared weights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650992" y="2212848"/>
            <a:ext cx="58521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50992" y="4800600"/>
            <a:ext cx="58521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1901952"/>
            <a:ext cx="1828800" cy="621792"/>
          </a:xfrm>
          <a:prstGeom prst="roundRect">
            <a:avLst>
              <a:gd name="adj" fmla="val 8824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9842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zA = fθ(A)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489704"/>
            <a:ext cx="1828800" cy="621792"/>
          </a:xfrm>
          <a:prstGeom prst="roundRect">
            <a:avLst>
              <a:gd name="adj" fmla="val 8824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457200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zB = fθ(B)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2697480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7797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58584" y="2697480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27797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-.1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470648" y="2697480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0648" y="27797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982712" y="2697480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82712" y="27797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...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46520" y="52852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53675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58584" y="52852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53675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-.2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470648" y="52852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0648" y="53675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982712" y="52852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82712" y="536752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...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732520" y="27889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30815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distance 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098280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cosine or L2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8211312" y="2212848"/>
            <a:ext cx="585216" cy="576072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211312" y="4800600"/>
            <a:ext cx="585216" cy="-77724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366760" y="45720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549640" y="4709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Loss: contrastive / triplet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49640" y="5029200"/>
            <a:ext cx="26060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22792" y="5148072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max(0,d(a,p)-d(a,n)+m)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567928" y="5577840"/>
            <a:ext cx="256946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Pull same identities together; push different identities beyond a margin.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13232" y="6053328"/>
            <a:ext cx="7040880" cy="347472"/>
          </a:xfrm>
          <a:prstGeom prst="roundRect">
            <a:avLst>
              <a:gd name="adj" fmla="val 13158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6153912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Embedding intuition: after training, the vector space itself becomes the face-recognition database.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BERT: encoder-only contextual embeddings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Bidirectional self-attention creates a vector for every token in its full context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960120"/>
            <a:ext cx="3931920" cy="3931920"/>
          </a:xfrm>
          <a:prstGeom prst="ellipse">
            <a:avLst/>
          </a:prstGeom>
          <a:solidFill>
            <a:srgbClr val="EEF2FF">
              <a:alpha val="92000"/>
            </a:srgbClr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78638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167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[CLS]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1618488" y="1234440"/>
            <a:ext cx="78638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3167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user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578608" y="1234440"/>
            <a:ext cx="786384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167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[MASK]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538728" y="1234440"/>
            <a:ext cx="78638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3167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password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98848" y="1234440"/>
            <a:ext cx="78638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167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[SEP]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80360" y="1783080"/>
            <a:ext cx="0" cy="429768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89888" y="2304288"/>
            <a:ext cx="2980944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032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3936" y="256032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Transformer encoder stack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2907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self-attention sees left + right context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2880360" y="3456432"/>
            <a:ext cx="0" cy="45720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536192" y="4005072"/>
            <a:ext cx="2697480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9344" y="408736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contextual token vectors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15968" y="4261104"/>
            <a:ext cx="603504" cy="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10912" y="4005072"/>
            <a:ext cx="1828800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40873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[CLS] / mean pool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87184" y="1078992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87184" y="1078992"/>
            <a:ext cx="73152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15784" y="1243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15784" y="1645920"/>
            <a:ext cx="3749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Encoder-only Transformer: every token can attend to every other token, so vectors are bidirectional.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87184" y="2167128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87184" y="2167128"/>
            <a:ext cx="73152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15784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Embeddings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15784" y="2734056"/>
            <a:ext cx="3749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Token vectors solve token tasks; [CLS] or mean pooling gives a sentence-level vector.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87184" y="3401568"/>
            <a:ext cx="4160520" cy="1572768"/>
          </a:xfrm>
          <a:prstGeom prst="roundRect">
            <a:avLst>
              <a:gd name="adj" fmla="val 4651"/>
            </a:avLst>
          </a:prstGeom>
          <a:solidFill>
            <a:srgbClr val="FFF7ED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70064" y="35387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Loss: masked language modeling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70064" y="3858768"/>
            <a:ext cx="37947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43216" y="3977640"/>
            <a:ext cx="364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L_MLM = -Σ log p(x_i | x_masked)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388352" y="4407408"/>
            <a:ext cx="375818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Random tokens are hidden; BERT predicts them from both sides. Original BERT also used NSP with binary cross-entropy.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777240" y="5742432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5879592"/>
            <a:ext cx="10195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</a:rPr>
              <a:t>BERT embeddings are contextual by pretraining; sentence-transformer fine-tuning makes cosine similarity align with retrieval or STS labels.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Source: Devlin et al. 2018, BERT: Pre-training of Deep Bidirectional Transformers for Language Understanding.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Qwen3 and Qwen3-Embedding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decoder foundation model can be adapted so one hidden state becomes a high-quality retrieval vector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138160" y="731520"/>
            <a:ext cx="3566160" cy="3566160"/>
          </a:xfrm>
          <a:prstGeom prst="ellipse">
            <a:avLst/>
          </a:prstGeom>
          <a:solidFill>
            <a:srgbClr val="EDE9FE">
              <a:alpha val="87000"/>
            </a:srgbClr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F46E5"/>
                </a:solidFill>
              </a:rPr>
              <a:t>Foundation pretraining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032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2763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Decoder-only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Transformer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240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causal attention → next token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200400" y="2057400"/>
            <a:ext cx="640080" cy="0"/>
          </a:xfrm>
          <a:prstGeom prst="line">
            <a:avLst/>
          </a:prstGeom>
          <a:noFill/>
          <a:ln w="2032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950208" y="1051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59669"/>
                </a:solidFill>
              </a:rPr>
              <a:t>Embedding adaptation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50208" y="1371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2032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6276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instruction + text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→ pooled vector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70832" y="226771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35000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.08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82896" y="226771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235000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-.3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94960" y="226771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35000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.6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07024" y="226771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235000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656832" y="2057400"/>
            <a:ext cx="64008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388352" y="1051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7C3AED"/>
                </a:solidFill>
              </a:rPr>
              <a:t>Serving tasks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88352" y="13716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17556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</a:rPr>
              <a:t>dense retrieval • code search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</a:rPr>
              <a:t>classification • reranking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5800" y="3273552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3410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Foundation loss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3730752"/>
            <a:ext cx="2926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3849624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L_NTP = -Σ log p(x_t|x_&lt;t)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86968" y="4279392"/>
            <a:ext cx="28895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Next-token cross-entropy trains the base model to predict the continuation under causal attention.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370832" y="3273552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53712" y="34107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Embedding loss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53712" y="3730752"/>
            <a:ext cx="32004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84962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InfoNCE = -log exp(sim(q,p+)/τ)/Σ_j exp(sim(q,d_j)/τ)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4572000" y="4279392"/>
            <a:ext cx="316382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Contrastive training pulls query-positive pairs together and uses in-batch negatives to shape retrieval geometry.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8275320" y="3273552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651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58200" y="3410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Reranker loss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58200" y="3730752"/>
            <a:ext cx="24231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31352" y="384962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CE(relevant | query, doc)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476488" y="4279392"/>
            <a:ext cx="238658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A reranker scores query-document pairs directly; labels or teacher scores train the final relevance ordering.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051560" y="5440680"/>
            <a:ext cx="9875520" cy="512064"/>
          </a:xfrm>
          <a:prstGeom prst="roundRect">
            <a:avLst>
              <a:gd name="adj" fmla="val 892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98448" y="5596128"/>
            <a:ext cx="9381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Embedding model = backbone language knowledge + pooling/instructions + contrastive training that makes vector distance mean relevance.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Sources: Qwen3 technical report; Qwen3-Embedding paper/blog/GitHub.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Concepts → algorithms → implementation → evaluation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990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31673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32588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Encoder–decoder, Siamese, BERT, Qwen3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9568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29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Embedding intuition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1956816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Vectors, geometry, similarity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58775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609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578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How models are trained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25877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Objectives, negatives, pooling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21868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20954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Use cases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321868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Search, clustering, recommendation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84962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227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8404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RAG search algorithms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384962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Dense, sparse, hybrid, reranking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48056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537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47141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Fine-tune embeddings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4800" y="448056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Sentence Transformers / Trainer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511149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1846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510235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SetFit + production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14800" y="5111496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Few-shot classification, evaluation, failure modes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77824" y="1700784"/>
            <a:ext cx="0" cy="374904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embedding?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learned coordinate system where geometry encodes useful relationships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0817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“reset my password”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50545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“change login credentials”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05993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“quarterly revenue”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664208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51760" y="2761488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4315968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94760" y="114300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21945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Encoder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Transformer + pooling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806440" y="1664208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06440" y="2761488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4315968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84848" y="1353312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435608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.12, -.44, .81, … 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84848" y="2450592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532888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 .09, -.39, .77, … 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84848" y="4005072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087368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[-.72,  .21, .05, … 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1261872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15727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High similarity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64040" y="1920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same intent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35440" y="36576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3968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Low similarity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64040" y="4315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different topic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559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Similarity is task-dependent: “similar” can mean semantic equivalence, relevance, style, user preference, or label compatibility.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embedding models are trained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Pretraining gives language knowledge; contrastive fine-tuning shapes the vector space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65960" cy="35661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778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1691640"/>
            <a:ext cx="566928" cy="5669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18470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Base encoder pretraining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Masked language modeling, next-token prediction, or distillation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3154680"/>
            <a:ext cx="3017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07208" y="1417320"/>
            <a:ext cx="1965960" cy="35661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691640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8470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0088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Construct training relations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90088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Positive pairs, graded scores, triplets, labels, hard negatives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73168" y="3154680"/>
            <a:ext cx="3017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11496" y="1417320"/>
            <a:ext cx="1965960" cy="35661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691640"/>
            <a:ext cx="566928" cy="5669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8470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94376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Encode &amp; pool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94376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CLS, mean pooling, weighted pooling, projection + normalization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77456" y="3154680"/>
            <a:ext cx="3017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15784" y="1417320"/>
            <a:ext cx="1965960" cy="35661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0728" y="169164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18470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98664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Optimize geometry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98664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Pull positives together; push negatives apart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81744" y="3154680"/>
            <a:ext cx="3017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20072" y="1417320"/>
            <a:ext cx="1965960" cy="35661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15016" y="169164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15016" y="18470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02952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Evaluate &amp; mine negatives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02952" y="3383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Recall@k, nDCG, STS; repeat with difficult confusions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54406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The most important design choice is not the backbone—it is the definition of positives, negatives, and relevance.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Sources: Sentence Transformers training overview and loss documentation.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objectives: choose the geometry you need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Dataset format and loss function must match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556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Training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481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Typical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23560" y="14813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What it shapes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3252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Good fit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1792224"/>
            <a:ext cx="10881360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01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Pair + binary label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80360" y="19019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ContrastiveLoss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23560" y="19019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Separate similar vs. dissimilar pairs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32520" y="19019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Duplicate detection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6151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Pair + score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26151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CosineSimilarityLoss / CoSENT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23560" y="261518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Preserve graded similarity ordering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32520" y="26151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Semantic textual similarity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3218688"/>
            <a:ext cx="10881360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284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Anchor + positive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33284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MultipleNegativesRankingLoss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23560" y="33284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In-batch negatives; strong for retrieval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32520" y="33284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Query → relevant passage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4041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Triplet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80360" y="40416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TripletLoss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23560" y="4041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Margin between positive and negative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32520" y="40416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Identity / intent separation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" y="4645152"/>
            <a:ext cx="10881360" cy="6126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54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Teacher scores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80360" y="4754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MarginMSE / distillation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23560" y="4754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Match a cross-encoder or larger model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32520" y="4754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Domain adaptation at scale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59436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60076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HARD NEGATIVES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80360" y="5952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High-scoring but incorrect candidates often create the largest gains—provided false negatives are controlled.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Source: Sentence Transformers loss overview / package reference.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embeddings create value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One representation layer, many downstream systems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1691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90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Semantic 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3017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Retrieve by meaning rather than keyword overlap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32588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90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RAG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1892808"/>
            <a:ext cx="3017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Ground generation in external, updateable knowledge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325880"/>
            <a:ext cx="73152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90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Clustering &amp; topic discovery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1892808"/>
            <a:ext cx="3017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Explore corpora, themes, and anomalies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474720"/>
            <a:ext cx="73152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39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Recommendations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041648"/>
            <a:ext cx="3017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Match users, items, content, or sessions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474720"/>
            <a:ext cx="73152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639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Deduplication &amp; matching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041648"/>
            <a:ext cx="3017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Near-duplicate, entity, product, or record linkage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34747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3474720"/>
            <a:ext cx="73152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639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041648"/>
            <a:ext cx="3017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k-NN, linear probes, prototypes, SetFit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Decision rule: use embeddings when relationships are reusable across many tasks and exact lexical matching is insufficient.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is a retrieval problem before it is a generation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generator can only reason over evidence that retrieval surfaces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96596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2048256"/>
            <a:ext cx="14264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Ingest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" y="30632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Parse, clean, chunk, attach metadata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93392" y="2395728"/>
            <a:ext cx="3200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50008" y="196596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048256"/>
            <a:ext cx="14264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Index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30632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Dense vectors, sparse terms, filters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2395728"/>
            <a:ext cx="3200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88536" y="196596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048256"/>
            <a:ext cx="14264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Retrieve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70248" y="30632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Top-k candidates with ANN / BM25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0448" y="2395728"/>
            <a:ext cx="3200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7064" y="196596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048256"/>
            <a:ext cx="14264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Rerank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08776" y="30632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Cross-encoder or late interaction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08976" y="2395728"/>
            <a:ext cx="3200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65592" y="196596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2048256"/>
            <a:ext cx="14264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Augment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47304" y="30632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Pack evidence into context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47504" y="2395728"/>
            <a:ext cx="32004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04120" y="196596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77272" y="2048256"/>
            <a:ext cx="14264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Generate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85832" y="30632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Answer with citations / abstention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" y="4617720"/>
            <a:ext cx="10607040" cy="786384"/>
          </a:xfrm>
          <a:prstGeom prst="roundRect">
            <a:avLst>
              <a:gd name="adj" fmla="val 697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864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412"/>
                </a:solidFill>
              </a:rPr>
              <a:t>Typical bottleneck: relevant evidence exists, but chunking, filtering, embedding mismatch, or approximate search prevents it from reaching the LLM.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Conceptual foundation: Lewis et al. (2020), Retrieval-Augmented Generation for Knowledge-Intensive NLP Tasks.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search algorithms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Use a retrieval stack—not a single algorithm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42032" cy="42976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Sparse retrieval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41832" y="2084832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14884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BM25 / inverted index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Strength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Exact terms, IDs, rare entities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Trade-off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37083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Misses paraphrases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55848" y="1325880"/>
            <a:ext cx="2542032" cy="42976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6002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46E5"/>
                </a:solidFill>
              </a:rPr>
              <a:t>Dense retrieval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94760" y="2084832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214884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Bi-encoder + ANN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84448" y="2816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Strength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84448" y="312724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Semantic matching, multilingual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84448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Trade-off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84448" y="437083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Can blur exact constraints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08776" y="1325880"/>
            <a:ext cx="2542032" cy="42976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6002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</a:rPr>
              <a:t>Hybrid retrieval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47688" y="2084832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14884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Fuse sparse + dense scores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37376" y="2816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Strength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37376" y="312724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Robust across query types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37376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Trade-off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37376" y="437083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Needs calibration / fusion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61704" y="1325880"/>
            <a:ext cx="2542032" cy="42976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44584" y="16002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Reranking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500616" y="2084832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3768" y="214884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Cross-encoder / late interaction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90304" y="2816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Strength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90304" y="312724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High precision on small candidate set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290304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Trade-off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90304" y="437083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Adds latency and cost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Recommended default: metadata filters → hybrid candidate generation → rerank top 20–100 → pass top 3–10 chunks.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Approximate nearest-neighbor search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ANN trades tiny recall loss for orders-of-magnitude speed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904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HNSW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29718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Graph-based navigation through multiple proximity layers. Strong recall / latency; memory-intensive.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7408" y="1325880"/>
            <a:ext cx="73152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904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IVF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892808"/>
            <a:ext cx="29718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Cluster vectors into coarse partitions; probe only likely lists. Tunable speed / recall.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11312" y="13258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11312" y="132588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4904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Product Quantization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892808"/>
            <a:ext cx="29718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Compress vectors into codebooks. Lower memory; approximate distances can reduce precision.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Retrieval quality = model quality × index quality × query formulation × corpus design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407408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489704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efSearch / probes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102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More candidates searched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4407408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4489704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top-k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5102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Candidate set size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4407408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4489704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vector normalization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102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Cosine ↔ dot product behavior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35440" y="4407408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8592" y="4489704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filters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51023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Can fragment the search space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8978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Always measure recall against an exact-search subset before tuning latency.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Fine-tuning an embedding model with Transformers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Practical recipe: domain pairs + contrastive objective + retrieval evaluation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629400" cy="4892040"/>
          </a:xfrm>
          <a:prstGeom prst="roundRect">
            <a:avLst>
              <a:gd name="adj" fmla="val 935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81328"/>
            <a:ext cx="6144768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datasets import Dataset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(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SentenceTransformer, SentenceTransformerTrainer,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SentenceTransformerTrainingArguments, losses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SentenceTransformer("sentence-transformers/all-MiniLM-L6-v2")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= Dataset.from_dict({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"anchor": queries,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"positive": relevant_passages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losses.MultipleNegativesRankingLoss(model)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SentenceTransformerTrainingArguments(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output_dir="emb-domain", num_train_epochs=2,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per_device_train_batch_size=64, learning_rate=2e-5,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warmup_ratio=0.1, fp16=True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SentenceTransformerTrainer(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args=args, train_dataset=train, loss=loss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7498080" y="13716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4447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65008" y="1344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Start from a strong pretrained sentence encoder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22860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23591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2585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Build query–positive pairs; add hard negatives carefully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32004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273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65008" y="31729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Select loss based on labels and serving task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0" y="411480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41879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65008" y="4087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Train with large effective batches and short schedules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0" y="502920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51023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65008" y="50017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Evaluate on held-out retrieval queries, not training loss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API pattern based on current Sentence Transformers training documentation.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Fine-tuning details that matter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Most failed projects optimize the wrong data distribution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01368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Sample real queries; preserve ambiguity, jargon, misspellings, and multilingual patterns.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234440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23444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399032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Negatives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3952" y="1801368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Use random negatives early, then mine high-scoring errors. Audit false negatives.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807208"/>
            <a:ext cx="73152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71800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Batching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374136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In-batch negatives improve signal; duplicates inside a batch can corrupt supervision.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2807208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5352" y="2807208"/>
            <a:ext cx="73152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971800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Prompts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3374136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Some models expect query/document prefixes. Match training and inference formatting.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379976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4379976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44568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Truncation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946904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Long documents may lose decisive evidence. Tune chunking and max sequence length jointly.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5352" y="4379976"/>
            <a:ext cx="52852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4379976"/>
            <a:ext cx="73152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544568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73952" y="4946904"/>
            <a:ext cx="48737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Track Recall@k, MRR/nDCG, latency, index size, and downstream answer quality.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 useful ablation sequence: baseline model → better chunks → better negatives → fine-tuning → reranking.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SetFit for few-shot text classification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Contrastive sentence-transformer tuning followed by a lightweight classification head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EF2F2"/>
          </a:solidFill>
          <a:ln w="1778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48256"/>
            <a:ext cx="15910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Few labeled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95728" y="2350008"/>
            <a:ext cx="5120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71800" y="19659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2048256"/>
            <a:ext cx="1728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Generate positive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negative text pairs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64608" y="2350008"/>
            <a:ext cx="5120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40680" y="19659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3832" y="2048256"/>
            <a:ext cx="1728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Contrastive fine-tune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SentenceTransformer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33488" y="2350008"/>
            <a:ext cx="5120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09560" y="196596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2" y="2048256"/>
            <a:ext cx="1636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Embed 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examples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10928" y="2350008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104120" y="196596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7272" y="2048256"/>
            <a:ext cx="1362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Train classifier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886200"/>
            <a:ext cx="103327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Why it works with little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40507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Pair generation expands the supervision signal; the pretrained embedding body already encodes broad language structure; the final head is cheap to fit.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Best for: small labeled datasets, fast experiments, multi-class or multi-label text classification, and CPU-friendly inference.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Source: Hugging Face SetFit conceptual guide and documentation.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Fine-tune a Sentence Transformer with SetFit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Minimal implementation for text classification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675120" cy="4956048"/>
          </a:xfrm>
          <a:prstGeom prst="roundRect">
            <a:avLst>
              <a:gd name="adj" fmla="val 92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81328"/>
            <a:ext cx="6199632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datasets import Dataset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setfit import SetFitModel, Trainer, TrainingArguments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Dataset.from_dict({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"text": texts,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"label": labels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}).train_test_split(test_size=0.2, stratify_by_column="label")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SetFitModel.from_pretrained(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"sentence-transformers/all-MiniLM-L6-v2"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TrainingArguments(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batch_size=16, num_epochs=(1, 16),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num_iterations=20, evaluation_strategy="epoch"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Trainer(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args=args,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train_dataset=dataset["train"],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eval_dataset=dataset["test"],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metric="f1"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print(trainer.evaluate())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498080" y="132588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0" y="1325880"/>
            <a:ext cx="73152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490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Phase 1: embedding body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1892808"/>
            <a:ext cx="3657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Contrastive training on generated sentence pairs.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74320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2743200"/>
            <a:ext cx="73152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Phase 2: classifier head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26680" y="3310128"/>
            <a:ext cx="3657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Fit logistic regression or differentiable head on embeddings.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416052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0" y="4160520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4325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Tune for imbalance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26680" y="4727448"/>
            <a:ext cx="3657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Use macro-F1, stratified splits, class weights, and threshold calibration.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5715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Validate with multiple random seeds—few-shot results can have high variance.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Evaluation: measure each layer independently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End-to-end quality is easier to debug when retrieval and generation have separate scorecards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42032" cy="40690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Embedding quality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" y="2560320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STS correlation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310128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Clustering purity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" y="4059936"/>
            <a:ext cx="182880" cy="1828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Pair classification AUC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1371600"/>
            <a:ext cx="2542032" cy="40690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6916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Retrieval quality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21024" y="256032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Recall@k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21024" y="331012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MRR / nDCG@k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21024" y="405993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Precision after reranking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27064" y="1371600"/>
            <a:ext cx="2542032" cy="40690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6916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RAG quality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83096" y="256032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Answer correctness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83096" y="331012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Faithfulness / citation support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83096" y="4059936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Abstention quality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89136" y="1371600"/>
            <a:ext cx="2542032" cy="406908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2016" y="16916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System quality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45168" y="256032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56064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p50 / p95 latency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45168" y="331012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6064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Cost per query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45168" y="405993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6064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Index freshness &amp; coverage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" y="5669280"/>
            <a:ext cx="1074420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815584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1B1B"/>
                </a:solidFill>
              </a:rPr>
              <a:t>Do not declare success from cosine similarity alone. Evaluate on real queries, real candidates, and the actual downstream decision.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failure modes—and the fix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debugging guide for embedding and RAG systems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5568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Symptom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9080" y="1481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Likely cause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03720" y="1481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Practical fix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653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</a:rPr>
              <a:t>Good offline score, poor production search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4069080" y="18653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Evaluation queries are too clean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6903720" y="18653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Build a shadow set from logs; segment by query type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731520" y="252374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</a:rPr>
              <a:t>Relevant chunks rank below generic chunks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4069080" y="25237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Easy negatives dominated training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903720" y="252374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Mine hard negatives and add reranking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0080" y="3099816"/>
            <a:ext cx="1088136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82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</a:rPr>
              <a:t>Exact IDs / names are missed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4069080" y="3182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Dense-only retrieval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903720" y="318211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Add BM25, filters, and hybrid fusion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</a:rPr>
              <a:t>Fine-tuned model overfits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069080" y="38404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Small or duplicated pair set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6903720" y="38404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Use held-out entities/topics; early stopping; regularize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40080" y="4416552"/>
            <a:ext cx="1088136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98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</a:rPr>
              <a:t>RAG answer is fluent but unsupported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4069080" y="44988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Context contains distractors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6903720" y="44988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Improve reranking, packing, citation checks, abstention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31520" y="51572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</a:rPr>
              <a:t>Latency explodes after quality tuning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4069080" y="51572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Large top-k / reranker / vectors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6903720" y="515721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Profile each stage; compress; cache; tune ANN parameters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robust default for enterprise knowledge search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F46E5"/>
                </a:solidFill>
              </a:rPr>
              <a:t>OFFLINE / INGESTION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5506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901952"/>
            <a:ext cx="15544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57276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65506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Parse + ACL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901952"/>
            <a:ext cx="33832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77640" y="157276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0792" y="165506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Chunk + metadata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901952"/>
            <a:ext cx="56692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157276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65506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Embed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1901952"/>
            <a:ext cx="15544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80960" y="1572768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778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165506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Vector + sparse index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891B2"/>
                </a:solidFill>
              </a:rPr>
              <a:t>ONLINE / QUERY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1012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39242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User query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20240" y="3639312"/>
            <a:ext cx="15544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48840" y="3310128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1992" y="3392424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Rewrite + filters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49040" y="3639312"/>
            <a:ext cx="3383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160520" y="331012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33672" y="339242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Hybrid retrieve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3639312"/>
            <a:ext cx="5212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72200" y="331012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339242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Rerank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3639312"/>
            <a:ext cx="15544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18120" y="331012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91272" y="339242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Context pack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235440" y="3639312"/>
            <a:ext cx="33832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46920" y="331012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CFE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20072" y="3392424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LLM + citations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641080" y="2249424"/>
            <a:ext cx="-3776472" cy="996696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" y="480060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0474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Observability loop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06040" y="492861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Log query → candidates → scores → selected evidence → answer → user feedback. Use failures to create new evaluation cases and hard negatives.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compact checklist for your next embedding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44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35608" y="129844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Define “similarity” in business terms before choosing a model.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444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67728" y="129844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Data relationships and negatives shape the embedding space more than model branding.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62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271576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For RAG, combine sparse + dense retrieval and rerank a manageable candidate set.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862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67728" y="271576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Fine-tune only after establishing a strong baseline and realistic evaluation set.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35608" y="413308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SetFit is a strong few-shot route from sentence embeddings to text classification.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67728" y="413308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Instrument the whole pipeline; retrieval failures often masquerade as LLM failures.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11680" y="5715000"/>
            <a:ext cx="818388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58704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Discussion: What is the hardest retrieval or classification problem in our domain?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&amp; further reading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Primary documentation and foundational papers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07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Sentence Transformers — Training Overview</a:t>
            </a:r>
            <a:endParaRPr lang="en-US" sz="105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960120" y="14996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https://sbert.net/docs/sentence_transformer/training_overview.html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92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Sentence Transformers — Loss Overview</a:t>
            </a:r>
            <a:endParaRPr lang="en-US" sz="105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960120" y="21854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https://sbert.net/docs/sentence_transformer/loss_overview.html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Sentence Transformers — Losses API</a:t>
            </a:r>
            <a:endParaRPr lang="en-US" sz="105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960120" y="28712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https://sbert.net/docs/package_reference/sentence_transformer/losses.html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64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Hugging Face — Training and fine-tuning embedding models</a:t>
            </a:r>
            <a:endParaRPr lang="en-US" sz="1050" dirty="0"/>
          </a:p>
        </p:txBody>
      </p:sp>
      <p:sp>
        <p:nvSpPr>
          <p:cNvPr id="15" name="Text 13">
            <a:hlinkClick r:id="rId4" tooltip=""/>
          </p:cNvPr>
          <p:cNvSpPr/>
          <p:nvPr/>
        </p:nvSpPr>
        <p:spPr>
          <a:xfrm>
            <a:off x="960120" y="35570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https://huggingface.co/blog/train-sentence-transformers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85800" y="40233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502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SetFit conceptual guide</a:t>
            </a:r>
            <a:endParaRPr lang="en-US" sz="1050" dirty="0"/>
          </a:p>
        </p:txBody>
      </p:sp>
      <p:sp>
        <p:nvSpPr>
          <p:cNvPr id="18" name="Text 16">
            <a:hlinkClick r:id="rId5" tooltip=""/>
          </p:cNvPr>
          <p:cNvSpPr/>
          <p:nvPr/>
        </p:nvSpPr>
        <p:spPr>
          <a:xfrm>
            <a:off x="960120" y="42428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https://huggingface.co/docs/setfit/conceptual_guides/setfit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636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SetFit documentation</a:t>
            </a:r>
            <a:endParaRPr lang="en-US" sz="1050" dirty="0"/>
          </a:p>
        </p:txBody>
      </p:sp>
      <p:sp>
        <p:nvSpPr>
          <p:cNvPr id="21" name="Text 19">
            <a:hlinkClick r:id="rId6" tooltip=""/>
          </p:cNvPr>
          <p:cNvSpPr/>
          <p:nvPr/>
        </p:nvSpPr>
        <p:spPr>
          <a:xfrm>
            <a:off x="960120" y="49286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https://huggingface.co/docs/setfit/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172200" y="12801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207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Devlin et al. — BERT</a:t>
            </a:r>
            <a:endParaRPr lang="en-US" sz="1050" dirty="0"/>
          </a:p>
        </p:txBody>
      </p:sp>
      <p:sp>
        <p:nvSpPr>
          <p:cNvPr id="24" name="Text 22">
            <a:hlinkClick r:id="rId7" tooltip=""/>
          </p:cNvPr>
          <p:cNvSpPr/>
          <p:nvPr/>
        </p:nvSpPr>
        <p:spPr>
          <a:xfrm>
            <a:off x="6446520" y="14996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https://arxiv.org/abs/1810.04805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172200" y="19659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892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Qwen3 Technical Report</a:t>
            </a:r>
            <a:endParaRPr lang="en-US" sz="1050" dirty="0"/>
          </a:p>
        </p:txBody>
      </p:sp>
      <p:sp>
        <p:nvSpPr>
          <p:cNvPr id="27" name="Text 25">
            <a:hlinkClick r:id="rId8" tooltip=""/>
          </p:cNvPr>
          <p:cNvSpPr/>
          <p:nvPr/>
        </p:nvSpPr>
        <p:spPr>
          <a:xfrm>
            <a:off x="6446520" y="21854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https://arxiv.org/abs/2505.09388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6172200" y="26517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Qwen3 Embedding paper</a:t>
            </a:r>
            <a:endParaRPr lang="en-US" sz="1050" dirty="0"/>
          </a:p>
        </p:txBody>
      </p:sp>
      <p:sp>
        <p:nvSpPr>
          <p:cNvPr id="30" name="Text 28">
            <a:hlinkClick r:id="rId9" tooltip=""/>
          </p:cNvPr>
          <p:cNvSpPr/>
          <p:nvPr/>
        </p:nvSpPr>
        <p:spPr>
          <a:xfrm>
            <a:off x="6446520" y="28712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https://arxiv.org/abs/2506.05176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6172200" y="33375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264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Qwen3 Embedding GitHub</a:t>
            </a:r>
            <a:endParaRPr lang="en-US" sz="1050" dirty="0"/>
          </a:p>
        </p:txBody>
      </p:sp>
      <p:sp>
        <p:nvSpPr>
          <p:cNvPr id="33" name="Text 31">
            <a:hlinkClick r:id="rId10" tooltip=""/>
          </p:cNvPr>
          <p:cNvSpPr/>
          <p:nvPr/>
        </p:nvSpPr>
        <p:spPr>
          <a:xfrm>
            <a:off x="6446520" y="35570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https://github.com/QwenLM/Qwen3-Embedding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6172200" y="40233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9502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Lewis et al. (2020) — Retrieval-Augmented Generation</a:t>
            </a:r>
            <a:endParaRPr lang="en-US" sz="1050" dirty="0"/>
          </a:p>
        </p:txBody>
      </p:sp>
      <p:sp>
        <p:nvSpPr>
          <p:cNvPr id="36" name="Text 34">
            <a:hlinkClick r:id="rId11" tooltip=""/>
          </p:cNvPr>
          <p:cNvSpPr/>
          <p:nvPr/>
        </p:nvSpPr>
        <p:spPr>
          <a:xfrm>
            <a:off x="6446520" y="42428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https://arxiv.org/abs/2005.11401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6172200" y="47091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636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Gao et al. — RAG for LLMs: A Survey</a:t>
            </a:r>
            <a:endParaRPr lang="en-US" sz="1050" dirty="0"/>
          </a:p>
        </p:txBody>
      </p:sp>
      <p:sp>
        <p:nvSpPr>
          <p:cNvPr id="39" name="Text 37">
            <a:hlinkClick r:id="rId12" tooltip=""/>
          </p:cNvPr>
          <p:cNvSpPr/>
          <p:nvPr/>
        </p:nvSpPr>
        <p:spPr>
          <a:xfrm>
            <a:off x="6446520" y="492861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4748B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https://arxiv.org/abs/2312.10997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731520" y="61447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</a:rPr>
              <a:t>Code snippets are illustrative; verify library versions and argument names in your environment before running.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Embedding Models: Training, Retrieval, RAG, and Fine-Tuning</dc:title>
  <dc:subject>Embedding Models Knowledge Sharing Session</dc:subject>
  <dc:creator>OpenAI</dc:creator>
  <cp:lastModifiedBy>OpenAI</cp:lastModifiedBy>
  <cp:revision>1</cp:revision>
  <dcterms:created xsi:type="dcterms:W3CDTF">2026-07-24T12:12:07Z</dcterms:created>
  <dcterms:modified xsi:type="dcterms:W3CDTF">2026-07-24T12:12:07Z</dcterms:modified>
</cp:coreProperties>
</file>